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slideLayout" Target="../slideLayouts/slideLayout7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Shopping Behaviour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Uncovering insights from 3,900 purchases to drive data-driven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70478"/>
            <a:ext cx="1941909" cy="426244"/>
          </a:xfrm>
          <a:prstGeom prst="roundRect">
            <a:avLst>
              <a:gd name="adj" fmla="val 63859"/>
            </a:avLst>
          </a:prstGeom>
          <a:solidFill>
            <a:srgbClr val="CDEFFE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38463"/>
            <a:ext cx="16697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874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Foundation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649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455420" y="36815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17195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analyzed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35893" y="2649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18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5897523" y="36815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893" y="417195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Features per customer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77995" y="2649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50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339626" y="36815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77995" y="417195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Geographic coverage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4875014"/>
            <a:ext cx="32336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Features Captured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5569506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demographics: Age, Gender, Location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Purchase details: Category, Amount, Season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Shopping behavior: Discounts, Reviews, Frequency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Subscription status and shipping preferences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1833" y="1112163"/>
            <a:ext cx="1477447" cy="313849"/>
          </a:xfrm>
          <a:prstGeom prst="roundRect">
            <a:avLst>
              <a:gd name="adj" fmla="val 66148"/>
            </a:avLst>
          </a:prstGeom>
          <a:noFill/>
          <a:ln w="7620">
            <a:solidFill>
              <a:srgbClr val="AAE4F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03156" y="1171575"/>
            <a:ext cx="1254800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91833" y="1478756"/>
            <a:ext cx="6816566" cy="540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Python-Powered Data Cleaning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091833" y="2217301"/>
            <a:ext cx="172998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33" y="2488406"/>
            <a:ext cx="7933134" cy="228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1833" y="2620566"/>
            <a:ext cx="2961084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Loading &amp; Exploration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091833" y="2969895"/>
            <a:ext cx="793313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Imported dataset, examined structure with df.info() and summary statistics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091833" y="3475315"/>
            <a:ext cx="172998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833" y="3729157"/>
            <a:ext cx="7933134" cy="228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1833" y="3878580"/>
            <a:ext cx="2448878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Missing Data Handling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091833" y="4227909"/>
            <a:ext cx="793313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Imputed 37 missing Review Ratings using category median values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91833" y="4733330"/>
            <a:ext cx="172998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833" y="4969907"/>
            <a:ext cx="7933134" cy="228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91833" y="5136594"/>
            <a:ext cx="2207062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091833" y="5485924"/>
            <a:ext cx="793313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 age_group bins and purchase_frequency_days columns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091833" y="5991344"/>
            <a:ext cx="172998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3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833" y="6210657"/>
            <a:ext cx="7933134" cy="228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1833" y="6394609"/>
            <a:ext cx="2284928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Database Integration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6091833" y="6743938"/>
            <a:ext cx="7933134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Loaded cleaned data into PostgreSQL for SQL analysis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5583" y="518160"/>
            <a:ext cx="1364099" cy="330875"/>
          </a:xfrm>
          <a:prstGeom prst="roundRect">
            <a:avLst>
              <a:gd name="adj" fmla="val 67905"/>
            </a:avLst>
          </a:prstGeom>
          <a:solidFill>
            <a:srgbClr val="CDEF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859" y="608648"/>
            <a:ext cx="149781" cy="149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2530" y="574238"/>
            <a:ext cx="914876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METRICS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55583" y="910828"/>
            <a:ext cx="6679525" cy="58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Profile at a Glance</a:t>
            </a:r>
            <a:endParaRPr lang="en-US" sz="3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83" y="1901428"/>
            <a:ext cx="8237458" cy="563606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57385" y="2693432"/>
            <a:ext cx="4224814" cy="1110139"/>
          </a:xfrm>
          <a:prstGeom prst="roundRect">
            <a:avLst>
              <a:gd name="adj" fmla="val 2529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752171" y="2888218"/>
            <a:ext cx="2340412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Average Age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752171" y="3335298"/>
            <a:ext cx="3835241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44 years old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557385" y="3958114"/>
            <a:ext cx="4224814" cy="1110139"/>
          </a:xfrm>
          <a:prstGeom prst="roundRect">
            <a:avLst>
              <a:gd name="adj" fmla="val 2529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752171" y="4152900"/>
            <a:ext cx="2340412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Avg Purchase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752171" y="4599980"/>
            <a:ext cx="3835241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$59.76 USD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9557385" y="5222796"/>
            <a:ext cx="4224814" cy="1110139"/>
          </a:xfrm>
          <a:prstGeom prst="roundRect">
            <a:avLst>
              <a:gd name="adj" fmla="val 2529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52171" y="5417582"/>
            <a:ext cx="2340412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Avg Rating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752171" y="5864662"/>
            <a:ext cx="3835241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3.75 stars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9557385" y="6506766"/>
            <a:ext cx="4224814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 range: $20-$100 | Age range: 18-70 years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3911"/>
            <a:ext cx="117937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Revenue Insights: Gender &amp; Subscriptions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69913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1344C"/>
          </a:solidFill>
          <a:ln/>
        </p:spPr>
      </p:sp>
      <p:sp>
        <p:nvSpPr>
          <p:cNvPr id="5" name="Text 2"/>
          <p:cNvSpPr/>
          <p:nvPr/>
        </p:nvSpPr>
        <p:spPr>
          <a:xfrm>
            <a:off x="4357688" y="6731913"/>
            <a:ext cx="50196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012055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5B0FC"/>
          </a:solidFill>
          <a:ln/>
        </p:spPr>
      </p:sp>
      <p:sp>
        <p:nvSpPr>
          <p:cNvPr id="7" name="Text 4"/>
          <p:cNvSpPr/>
          <p:nvPr/>
        </p:nvSpPr>
        <p:spPr>
          <a:xfrm>
            <a:off x="5299829" y="6731913"/>
            <a:ext cx="7435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20896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Gender Distribution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38943" y="2670810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 customers represent 68% of total customer base and drive 68% of revenue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38943" y="4128049"/>
            <a:ext cx="4205168" cy="35957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638943" y="4419124"/>
            <a:ext cx="29054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Subscription Impact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38943" y="5000268"/>
            <a:ext cx="4205168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Subscribers: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1,053 customers, $59.49 avg spend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Non-subscribers: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2,847 customers, $59.87 avg spend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Only 27% subscribe despite similar spending patterns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7437" y="1088588"/>
            <a:ext cx="4336852" cy="399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Seasonal Revenue Patterns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447437" y="1596152"/>
            <a:ext cx="8249126" cy="1332190"/>
          </a:xfrm>
          <a:prstGeom prst="roundRect">
            <a:avLst>
              <a:gd name="adj" fmla="val 1439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11" y="1731526"/>
            <a:ext cx="383500" cy="3835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300" y="1836896"/>
            <a:ext cx="172522" cy="17252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82811" y="2187059"/>
            <a:ext cx="1598176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Fall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582811" y="2429947"/>
            <a:ext cx="7978378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~$60K revenue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582811" y="2633067"/>
            <a:ext cx="7978378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Highest season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47437" y="3000375"/>
            <a:ext cx="8249126" cy="1332190"/>
          </a:xfrm>
          <a:prstGeom prst="roundRect">
            <a:avLst>
              <a:gd name="adj" fmla="val 1439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811" y="3135749"/>
            <a:ext cx="383500" cy="38350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300" y="3241119"/>
            <a:ext cx="172522" cy="17252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82811" y="3591282"/>
            <a:ext cx="1598176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Spring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582811" y="3834170"/>
            <a:ext cx="7978378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~$59K revenue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582811" y="4037290"/>
            <a:ext cx="7978378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Slight dip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447437" y="4404598"/>
            <a:ext cx="8249126" cy="1332190"/>
          </a:xfrm>
          <a:prstGeom prst="roundRect">
            <a:avLst>
              <a:gd name="adj" fmla="val 1439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811" y="4539972"/>
            <a:ext cx="383500" cy="38350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300" y="4645343"/>
            <a:ext cx="172522" cy="17252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82811" y="4995505"/>
            <a:ext cx="1598176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Winter</a:t>
            </a:r>
            <a:endParaRPr lang="en-US" sz="1250" dirty="0"/>
          </a:p>
        </p:txBody>
      </p:sp>
      <p:sp>
        <p:nvSpPr>
          <p:cNvPr id="20" name="Text 11"/>
          <p:cNvSpPr/>
          <p:nvPr/>
        </p:nvSpPr>
        <p:spPr>
          <a:xfrm>
            <a:off x="582811" y="5238393"/>
            <a:ext cx="7978378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~$59K revenue</a:t>
            </a:r>
            <a:endParaRPr lang="en-US" sz="1000" dirty="0"/>
          </a:p>
        </p:txBody>
      </p:sp>
      <p:sp>
        <p:nvSpPr>
          <p:cNvPr id="21" name="Text 12"/>
          <p:cNvSpPr/>
          <p:nvPr/>
        </p:nvSpPr>
        <p:spPr>
          <a:xfrm>
            <a:off x="582811" y="5441513"/>
            <a:ext cx="7978378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Stable demand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447437" y="5808821"/>
            <a:ext cx="8249126" cy="1332190"/>
          </a:xfrm>
          <a:prstGeom prst="roundRect">
            <a:avLst>
              <a:gd name="adj" fmla="val 1439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811" y="5944195"/>
            <a:ext cx="383500" cy="38350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8300" y="6049566"/>
            <a:ext cx="172522" cy="17252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82811" y="6399728"/>
            <a:ext cx="1598176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Summer</a:t>
            </a:r>
            <a:endParaRPr lang="en-US" sz="1250" dirty="0"/>
          </a:p>
        </p:txBody>
      </p:sp>
      <p:sp>
        <p:nvSpPr>
          <p:cNvPr id="26" name="Text 15"/>
          <p:cNvSpPr/>
          <p:nvPr/>
        </p:nvSpPr>
        <p:spPr>
          <a:xfrm>
            <a:off x="582811" y="6642616"/>
            <a:ext cx="7978378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~$55K revenue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582811" y="6845737"/>
            <a:ext cx="7978378" cy="15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Lowest season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580192"/>
            <a:ext cx="8219242" cy="659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Product Category Performance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38426" y="2388989"/>
            <a:ext cx="426922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 Distribution by Category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38426" y="3244334"/>
            <a:ext cx="4269224" cy="1303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Clothing: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1,737 customers (45%)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Accessories: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1,200+ customers (31%)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Footwear: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600+ customers (15%)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Outerwear: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300+ customers (8%)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8426" y="4873774"/>
            <a:ext cx="4269224" cy="33933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8426" y="5128446"/>
            <a:ext cx="263735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Top-Rated Products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38426" y="5654226"/>
            <a:ext cx="4269224" cy="977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Gloves (3.86 avg rating)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Sandals (3.84 avg rating)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Boots (3.82 avg rating)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9858" y="1754505"/>
            <a:ext cx="8369617" cy="5726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4853"/>
            <a:ext cx="2613184" cy="426244"/>
          </a:xfrm>
          <a:prstGeom prst="roundRect">
            <a:avLst>
              <a:gd name="adj" fmla="val 63859"/>
            </a:avLst>
          </a:prstGeom>
          <a:solidFill>
            <a:srgbClr val="CDEFFE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92837"/>
            <a:ext cx="234100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418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Loyalty Breakdown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1478042" y="3765113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80%</a:t>
            </a:r>
            <a:endParaRPr lang="en-US" sz="4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347436"/>
            <a:ext cx="3402330" cy="3402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5420" y="6033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652367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3,116 customers with 5+ purchases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920145" y="3765113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18%</a:t>
            </a:r>
            <a:endParaRPr lang="en-US" sz="4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347436"/>
            <a:ext cx="3402330" cy="34023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97523" y="6033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35893" y="652367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701 customers with 2-4 purchases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0362248" y="3765113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2%</a:t>
            </a:r>
            <a:endParaRPr lang="en-US" sz="4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347436"/>
            <a:ext cx="3402330" cy="34023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39626" y="6033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677995" y="652367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83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71417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loyalty base: 80% of customers are repeat buyers with 5+ purchases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7662" y="408861"/>
            <a:ext cx="4883348" cy="458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Discount Strategy Analysis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662" y="1057989"/>
            <a:ext cx="10135076" cy="41946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87412" y="2222059"/>
            <a:ext cx="1637797" cy="56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Before Discount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487412" y="2863696"/>
            <a:ext cx="1637797" cy="55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Lower sales volume, higher margins per unit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496640" y="2222059"/>
            <a:ext cx="1637797" cy="28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After Discount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496640" y="2582824"/>
            <a:ext cx="1637797" cy="55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sales volume, reduced margins overall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247662" y="5359598"/>
            <a:ext cx="10135076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839 customers used discounts yet spent above average ($59.76)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247662" y="5695831"/>
            <a:ext cx="2800231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Discount-Dependent Products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247662" y="6141244"/>
            <a:ext cx="4476512" cy="183594"/>
          </a:xfrm>
          <a:prstGeom prst="roundRect">
            <a:avLst>
              <a:gd name="adj" fmla="val 12000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662" y="6141244"/>
            <a:ext cx="2238256" cy="1835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34307" y="6141244"/>
            <a:ext cx="421481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50%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247662" y="6469499"/>
            <a:ext cx="1836063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74612" y="6141244"/>
            <a:ext cx="4347091" cy="183594"/>
          </a:xfrm>
          <a:prstGeom prst="roundRect">
            <a:avLst>
              <a:gd name="adj" fmla="val 12000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612" y="6141244"/>
            <a:ext cx="2160389" cy="1835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31836" y="6141244"/>
            <a:ext cx="550902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49.7%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374612" y="6469499"/>
            <a:ext cx="1836063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Sneakers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247662" y="6962418"/>
            <a:ext cx="4493895" cy="183594"/>
          </a:xfrm>
          <a:prstGeom prst="roundRect">
            <a:avLst>
              <a:gd name="adj" fmla="val 12000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662" y="6962418"/>
            <a:ext cx="2201942" cy="1835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1690" y="6962418"/>
            <a:ext cx="404098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49%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247662" y="7290673"/>
            <a:ext cx="1836063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Coat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374612" y="6962418"/>
            <a:ext cx="4493776" cy="183594"/>
          </a:xfrm>
          <a:prstGeom prst="roundRect">
            <a:avLst>
              <a:gd name="adj" fmla="val 120009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612" y="6962418"/>
            <a:ext cx="2156936" cy="1835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978521" y="6962418"/>
            <a:ext cx="404217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48%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374612" y="7290673"/>
            <a:ext cx="1836063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Sweater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2247662" y="7627025"/>
            <a:ext cx="10135076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Nearly half of purchases for these items rely on discounts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8951"/>
            <a:ext cx="1745575" cy="426244"/>
          </a:xfrm>
          <a:prstGeom prst="roundRect">
            <a:avLst>
              <a:gd name="adj" fmla="val 63859"/>
            </a:avLst>
          </a:prstGeom>
          <a:solidFill>
            <a:srgbClr val="CDEF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251347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196935"/>
            <a:ext cx="12012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ACTION ITEMS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45920"/>
            <a:ext cx="81469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269486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694861"/>
            <a:ext cx="121920" cy="2093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2524" y="2952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42524" y="344257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Only 27% subscribe—promote exclusive benefits to increase conversion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269486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482" y="2694861"/>
            <a:ext cx="121920" cy="20937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65696" y="2952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565696" y="344257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 80% loyal base into subscribers with reward mechanisms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40133" y="269486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9653" y="2694861"/>
            <a:ext cx="121920" cy="20937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988868" y="2952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Optimize Discounts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988868" y="344257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50% discount rates on hats, sneakers, coats to protect margins</a:t>
            </a:r>
            <a:endParaRPr lang="en-US" sz="1750" dirty="0"/>
          </a:p>
        </p:txBody>
      </p:sp>
      <p:sp>
        <p:nvSpPr>
          <p:cNvPr id="18" name="Shape 12"/>
          <p:cNvSpPr/>
          <p:nvPr/>
        </p:nvSpPr>
        <p:spPr>
          <a:xfrm>
            <a:off x="793790" y="5015389"/>
            <a:ext cx="4196358" cy="2085142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10" y="5015389"/>
            <a:ext cx="121920" cy="208514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2524" y="5272683"/>
            <a:ext cx="32845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Highlight Top Products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1142524" y="5763101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gloves, sandals, boots (highest ratings) in campaigns</a:t>
            </a:r>
            <a:endParaRPr lang="en-US" sz="1750" dirty="0"/>
          </a:p>
        </p:txBody>
      </p:sp>
      <p:sp>
        <p:nvSpPr>
          <p:cNvPr id="22" name="Shape 15"/>
          <p:cNvSpPr/>
          <p:nvPr/>
        </p:nvSpPr>
        <p:spPr>
          <a:xfrm>
            <a:off x="5216962" y="5015389"/>
            <a:ext cx="4196358" cy="2085142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6482" y="5015389"/>
            <a:ext cx="121920" cy="208514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65696" y="5272683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Target High-Value Segments</a:t>
            </a:r>
            <a:endParaRPr lang="en-US" sz="2200" dirty="0"/>
          </a:p>
        </p:txBody>
      </p:sp>
      <p:sp>
        <p:nvSpPr>
          <p:cNvPr id="25" name="Text 17"/>
          <p:cNvSpPr/>
          <p:nvPr/>
        </p:nvSpPr>
        <p:spPr>
          <a:xfrm>
            <a:off x="5565696" y="6117431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 on middle-aged customers and express shipping preferences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2026-02-02T10:37:53Z</dcterms:created>
  <dcterms:modified xsi:type="dcterms:W3CDTF">2026-02-02T10:37:53Z</dcterms:modified>
</cp:coreProperties>
</file>